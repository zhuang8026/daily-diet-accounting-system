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88952" cy="33832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每日飲食記帳系統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BF7D0"/>
                </a:solidFill>
              </a:rPr>
              <a:t>Daily Diet Accounting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6EFAC"/>
                </a:solidFill>
              </a:rPr>
              <a:t>系統需求規格書 v1.0.0　｜　2026-05-07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響應式 SPA 網頁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4343400"/>
            <a:ext cx="219456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 大功能模組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4343400"/>
            <a:ext cx="219456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資安符合 OWASP Top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4343400"/>
            <a:ext cx="219456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8404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完整 RESTful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4343400"/>
            <a:ext cx="219456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6EFAC"/>
                </a:solidFill>
              </a:rPr>
              <a:t>匯報時間：15–20 分鐘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90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</a:rPr>
              <a:t>系統概述與背景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90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23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</a:rPr>
              <a:t>使用者角色定義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90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</a:rPr>
              <a:t>核心功能模組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43400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1490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343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</a:rPr>
              <a:t>頁面設計細節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03520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1490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303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</a:rPr>
              <a:t>後台管理功能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463040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490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14630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</a:rPr>
              <a:t>資料結構與 API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423160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1490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24231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</a:rPr>
              <a:t>技術規格與資安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383280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490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3832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</a:rPr>
              <a:t>UI/UX 與 RWD 規範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4343400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490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343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</a:rPr>
              <a:t>測試策略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303520"/>
            <a:ext cx="502920" cy="5029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14904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303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E293B"/>
                </a:solidFill>
              </a:rPr>
              <a:t>總結與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系統概述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本系統讓使用者透過網頁記錄每日三餐與點心的飲食明細，自動計算熱量與三大營養素，並以視覺化圖表呈現攝取量與個人目標的差距。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77440"/>
            <a:ext cx="2651760" cy="2560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377440"/>
            <a:ext cx="265176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6A34A"/>
                </a:solidFill>
              </a:rPr>
              <a:t>🍽️ 飲食記錄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記錄每日三餐
與點心熱量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377440"/>
            <a:ext cx="2651760" cy="2560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2377440"/>
            <a:ext cx="265176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514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6A34A"/>
                </a:solidFill>
              </a:rPr>
              <a:t>📊 視覺化分析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1089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Chart.js 圖表
即時呈現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377440"/>
            <a:ext cx="2651760" cy="2560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377440"/>
            <a:ext cx="265176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2514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6A34A"/>
                </a:solidFill>
              </a:rPr>
              <a:t>🎯 目標管理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1089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Harris-Benedict
公式計算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377440"/>
            <a:ext cx="2651760" cy="25603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2377440"/>
            <a:ext cx="265176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514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6A34A"/>
                </a:solidFill>
              </a:rPr>
              <a:t>🔐 後台管理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310896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</a:rPr>
              <a:t>食物庫、帳號
完整管控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系統類型：響應式 SPA  ｜  介面語言：繁體中文  ｜  目標平台：現代瀏覽器（Chrome / Firefox / Edge / Safari）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使用者角色定義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Actor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👤  一般使用者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登入後可使用所有前台功能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06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記錄飲食、設定目標、查看報表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對應模組：M02 / M03 / M04 / M05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371600"/>
            <a:ext cx="356616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14173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🛡️  管理員 Admin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從 /admin 入口獨立登入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606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完整後台管理權限（M06）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可查閱所有使用者資料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611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管理食物庫、帳號、公告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566160" cy="6400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41732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👁️  訪客 Guest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未登入狀態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606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僅能瀏覽公開頁面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108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可存取：/login / /register / /about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3611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無法存取任何功能頁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核心功能模組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Feature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35204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52044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M01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600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使用者驗證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登入 / 登出 / 密碼管理
JWT + HttpOnly Cookie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63040"/>
            <a:ext cx="35204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463040"/>
            <a:ext cx="352044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6002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M02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600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每日飲食總覽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1488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熱量環形圖 / 三大營養素
進度條 / 餐別 Accordion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35204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352044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60020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6A34A"/>
                </a:solidFill>
              </a:rPr>
              <a:t>M03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6002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食物搜尋與新增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14884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關鍵字自動補全
類別篩選 / 熱量滑桿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886200"/>
            <a:ext cx="35204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3886200"/>
            <a:ext cx="35204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233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M04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023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個人目標設定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5720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Harris-Benedict 公式
減重 / 維持 / 增肌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6240" y="3886200"/>
            <a:ext cx="35204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06240" y="3886200"/>
            <a:ext cx="35204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97680" y="40233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M05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4023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趨勢報表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5720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7 天 / 30 天折線圖
營養素圓餅圖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3886200"/>
            <a:ext cx="35204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3886200"/>
            <a:ext cx="352044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402336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9488"/>
                </a:solidFill>
              </a:rPr>
              <a:t>M06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402336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後台管理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45720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食物庫 / 帳號 / 公告
管理員專屬入口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頁面設計 — 每日飲食總覽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/dashboard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頁面核心元素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640080" cy="6400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8105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E1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日期切換器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084831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上一天 / 下一天 / Date Picker
不得選取未來日期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33472"/>
            <a:ext cx="640080" cy="6400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7066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E2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679191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熱量環形進度圖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98094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Chart.js Donut Chart
&lt; 75% 綠 | 75-100% 橙 | &gt; 100% 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529584"/>
            <a:ext cx="640080" cy="6400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60273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E3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75303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三大營養素進度條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87705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蛋白質 / 脂肪 / 碳水
超標顯示紅色警示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425696"/>
            <a:ext cx="640080" cy="6400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49884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E4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714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餐別分區列表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7316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早餐 / 午餐 / 晚餐 / 點心
Accordion + 編輯 / 刪除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21808"/>
            <a:ext cx="640080" cy="6400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9496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E5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67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快速新增按鈕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固定右下角或各餐別頂部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1325880"/>
            <a:ext cx="5212080" cy="5212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83680" y="1325880"/>
            <a:ext cx="5212080" cy="45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0" y="1463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</a:rPr>
              <a:t>  ◀  2026-05-14  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0" y="1920240"/>
            <a:ext cx="2651760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1965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</a:rPr>
              <a:t>🟢  1,240 / 1,800 kcal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2514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蛋白質  ▓▓▓▓▓░░  68 / 120 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017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脂肪    ▓▓▓░░░░  38 / 60 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520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碳水    ▓▓▓▓▓▓░  158 / 200 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297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</a:rPr>
              <a:t>▼ 早餐  ▼ 午餐  ▷ 晚餐  ▷ 點心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943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➕ 新增飲食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95360" y="5897880"/>
            <a:ext cx="2468880" cy="411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0" y="59253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➕  新增飲食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頁面設計 — 食物搜尋 / 新增紀錄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/food-search  +  Modal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食物搜尋頁 /food-search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關鍵字搜尋（2 字觸發自動補全，前 5 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1343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類別篩選：主食 / 蔬菜 / 水果 / 肉類…等 9 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4378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熱量範圍雙向滑桿（0–1000 kcal）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74135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食物卡片：名稱、類別、每份份量、熱量、三大營養素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04487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分頁顯示（每頁 12 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348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XSS 防護：輸出使用 textContent，禁止 innerHTML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3258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</a:rPr>
              <a:t>新增 / 編輯飲食紀錄 Modal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783080"/>
            <a:ext cx="2560320" cy="4572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837943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mealType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183794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早餐 / 午餐 / 晚餐 / 點心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377440"/>
            <a:ext cx="2560320" cy="4572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43230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recordDate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4323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YYYY-MM-DD，不得為未來日期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971800"/>
            <a:ext cx="2560320" cy="4572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02666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foodName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302666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最長 50 字，禁 HTML 標籤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3566160"/>
            <a:ext cx="2560320" cy="4572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62102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servingAmount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62102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數值 &gt; 0，最多 2 位小數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160520"/>
            <a:ext cx="2560320" cy="4572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215383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calories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421538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自動計算（整數）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754880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80974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protein/fat/carb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480974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自動計算（1 位小數）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5349240"/>
            <a:ext cx="256032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404104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</a:rPr>
              <a:t>note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5404104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最長 200 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9436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送出後：Modal 關閉 → 圖表即時更新 → Toast 顯示 3 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頁面設計 — 個人目標設定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/settings  ·  Harris-Benedict 公式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表單欄位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性別（男 / 女）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年齡（10–120 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3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身高（50–250 cm）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79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體重（20–300 kg）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活動量（久坐 / 輕度 / 中度 / 高度 / 非常高度）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4805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飲食目標（減重 / 維持 / 增肌）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▸ 目標熱量（系統計算，可手動覆蓋）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25880"/>
            <a:ext cx="5577840" cy="52120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57784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4173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Harris-Benedict 公式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116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男性 BMR =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01168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88.362 + (13.397 × 體重) + (4.799 × 身高) − (5.677 × 年齡)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743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9488"/>
                </a:solidFill>
              </a:rPr>
              <a:t>女性 BMR 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74320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447.593 + (9.247 × 體重) + (3.098 × 身高) − (4.330 × 年齡)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520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活動量乘數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3931920"/>
            <a:ext cx="1005840" cy="6400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9593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久坐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251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×1.2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88352" y="3931920"/>
            <a:ext cx="1005840" cy="6400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88352" y="39593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輕度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88352" y="4251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×1.375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67344" y="3931920"/>
            <a:ext cx="1005840" cy="6400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67344" y="39593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中度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4251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×1.55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46336" y="3931920"/>
            <a:ext cx="1005840" cy="6400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46336" y="39593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高度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46336" y="4251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×1.725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625328" y="3931920"/>
            <a:ext cx="1005840" cy="6400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25328" y="395935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293B"/>
                </a:solidFill>
              </a:rPr>
              <a:t>非常高度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25328" y="42519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6A34A"/>
                </a:solidFill>
              </a:rPr>
              <a:t>×1.9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70916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飲食目標調整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5120640"/>
            <a:ext cx="1645920" cy="7315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5148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減重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440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BMR × 0.8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38160" y="5120640"/>
            <a:ext cx="1645920" cy="7315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5148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維持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440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BMR × 1.0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66960" y="5120640"/>
            <a:ext cx="1645920" cy="7315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60" y="5148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增肌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54406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BMR × 1.15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頁面設計 — 趨勢報表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/report  ·  Chart.js 圖表規格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56616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CHART-01  熱量趨勢折線圖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X 軸：7 天 / 30 天日期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Y 軸：熱量（kcal）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4553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綠色實線：實際攝取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12464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灰色虛線：目標熱量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7939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無紀錄日顯示 0 + 空心圓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325880"/>
            <a:ext cx="356616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CHART-02  三大營養素圓餅圖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01168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Donut Chart 圓心顯示總熱量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57860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蛋白質＝藍色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14553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脂肪＝橙色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712464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碳水＝綠色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4279392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顯示累計比例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1325880"/>
            <a:ext cx="356616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137160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CHART-03  體重趨勢折線圖（選用）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011680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使用者手動記錄體重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578608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X 軸：日期 / Y 軸：體重 kg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45536"/>
            <a:ext cx="3383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• 同步顯示 BMI 數值標籤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29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時間範圍切換（7 天 / 30 天）即時重繪圖表　｜　深色模式（prefers-color-scheme: dark）自動切換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後台管理功能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/admin  ·  需 role === 'admin'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ADMIN-01  統計儀表板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29967"/>
            <a:ext cx="3383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今日活躍使用者 / 紀錄筆數
本週統計 / 食物庫總筆數
前 10 大食物長條圖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371600"/>
            <a:ext cx="356616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ADMIN-02  食物資料庫管理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029967"/>
            <a:ext cx="3383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CRUD（新增 / 編輯 / 刪除）
搜尋篩選 / 每頁 20 筆
CSV 批次匯入食物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71600"/>
            <a:ext cx="356616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173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ADMIN-03  飲食紀錄管理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29967"/>
            <a:ext cx="3383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多條件篩選（日期/Email/餐別）
刪除單筆紀錄
匯出 CSV / JSON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3931920"/>
            <a:ext cx="356616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03120" y="397763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ADMIN-04  使用者管理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590288"/>
            <a:ext cx="3383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啟用 / 停用帳號
強制重設密碼
變更角色 / 刪除帳號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931920"/>
            <a:ext cx="356616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3977639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ADMIN-05  系統公告管理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59" y="4590288"/>
            <a:ext cx="33832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最多 1 則有效公告
設定生效 / 到期日期
前台頂端 Banner 顯示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資料結構設計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Data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356616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5331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dietRecord
（飲食紀錄）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57400"/>
            <a:ext cx="3474720" cy="47548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08483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recordId  UUID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78608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060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userId  String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3099815"/>
            <a:ext cx="3474720" cy="47548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1272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mealType  Enum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64845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recordDate  YYYY-MM-DD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4142231"/>
            <a:ext cx="3474720" cy="47548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169663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foodName  String（50）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663440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69087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servingAmount  Number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184648"/>
            <a:ext cx="3474720" cy="47548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52120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calories  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705856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7332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protein/fat/carb  Number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0" y="1325880"/>
            <a:ext cx="3566160" cy="6400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51960" y="135331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foodItem
（食物資料）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2057400"/>
            <a:ext cx="3474720" cy="47548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208483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foodId  String（F001…）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2578608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26060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foodName  String（50）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3099815"/>
            <a:ext cx="3474720" cy="47548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89120" y="31272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category  Enum（9 類）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3621024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364845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servingSize / servingUnit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4142231"/>
            <a:ext cx="3474720" cy="47548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89120" y="4169663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caloriesPerServing  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4663440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0" y="469087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protein/fat/carbPerServing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5184648"/>
            <a:ext cx="3474720" cy="47548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0" y="52120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isCustom  Boolean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5705856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57332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createdBy  userId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38160" y="1325880"/>
            <a:ext cx="356616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1353312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userProfile
（使用者設定）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83880" y="2057400"/>
            <a:ext cx="3474720" cy="47548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208483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userId  UUID（主鍵）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83880" y="2578608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26060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email  唯一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83880" y="3099815"/>
            <a:ext cx="3474720" cy="47548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31272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passwordHash  bcrypt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3880" y="3621024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364845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gender / age / heightCm / weightKg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83880" y="4142231"/>
            <a:ext cx="3474720" cy="47548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75320" y="4169663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activityLevel  Enum（5）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83880" y="4663440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75320" y="4690871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dietGoal  Enum（3）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83880" y="5184648"/>
            <a:ext cx="3474720" cy="475488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75320" y="521207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targetCalories / Protein / Fat / Carb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83880" y="5705856"/>
            <a:ext cx="3474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57332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role  user / admin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localStorage key 命名：ddas_records_{userId}  /  ddas_profile_{userId}  /  ddas_foods　｜　每筆含 expiredAt（7 天過期）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RESTful API 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Base URL: /api/v1  ·  JWT via HttpOnly Cookie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25880"/>
            <a:ext cx="365760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807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認證 Auth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892807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POST  /auth/register   使用者註冊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36829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POST  /auth/login      登入（發放 JWT Cookie）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843784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POST  /auth/logout     登出（清除 Cookie）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319272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GET   /auth/me         取得目前使用者資訊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325880"/>
            <a:ext cx="365760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3807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飲食紀錄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892807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GET    /records         取得紀錄清單（?date&amp;mealType）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399" y="236829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POST   /records         新增紀錄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843784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PUT    /records/:id     修改紀錄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3319272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DELETE /records/:id     刪除紀錄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365760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79" y="1380744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食物資料庫 Foods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1892807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GET    /foods           清單（?keyword&amp;category&amp;cal…）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36829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GET    /foods/:id       單筆食物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2843784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POST   /foods           新增（管理員）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19" y="3319272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PUT  / DELETE /foods/:id 編輯 / 刪除（管理員）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11680" y="3977639"/>
            <a:ext cx="365760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11680" y="4032503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報表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54456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GET  /report/daily      每日熱量摘要（?startDate&amp;endDate）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02005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GET  /report/nutrients  時間範圍營養素比例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977639"/>
            <a:ext cx="3657600" cy="457200"/>
          </a:xfrm>
          <a:prstGeom prst="rect">
            <a:avLst/>
          </a:prstGeom>
          <a:solidFill>
            <a:srgbClr val="78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4032503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後台 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4544568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GET  /admin/stats       統計儀表板數字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5020056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GET/PUT/DELETE /admin/users/:id  使用者管理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5495544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GET  /admin/records     全使用者紀錄（含篩選）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5971031"/>
            <a:ext cx="3520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GET  /admin/export      匯出 CSV / 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成功：{ success: true, data: … }　｜　失敗：{ success: false, error: { code, message }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技術規格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Tech Stack &amp; Coding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前端技術棧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55648"/>
            <a:ext cx="2926080" cy="5943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01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React 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80136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SPA 框架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59736"/>
            <a:ext cx="2926080" cy="5943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0545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50545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建置工具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63824"/>
            <a:ext cx="2926080" cy="5943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2095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Bootstrap 5.3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20954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UI 元件庫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867912"/>
            <a:ext cx="2926080" cy="5943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91363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Chart.js 4.x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91363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圖表視覺化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72000"/>
            <a:ext cx="2926080" cy="5943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4617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React Router v6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6177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前端路由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76088"/>
            <a:ext cx="2926080" cy="5943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321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SCSS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32180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樣式預處理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</a:rPr>
              <a:t>開發規範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1737360"/>
            <a:ext cx="73152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7647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TECH-01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7647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命名規範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057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小駝峰 lowerCamelCase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651760"/>
            <a:ext cx="73152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679191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TECH-02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67919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中文註解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2971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每函式開頭須有中文說明區塊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3566160"/>
            <a:ext cx="73152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0" y="3593591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TECH-03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593591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localStorage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8862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7 天過期機制（expiredAt 欄位）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480560"/>
            <a:ext cx="73152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45079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TECH-04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5079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禁用 for 迴圈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800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改用 map / filter / reduce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5394960"/>
            <a:ext cx="73152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17920" y="542239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TECH-06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542239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</a:rPr>
              <a:t>精簡原則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5715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重複邏輯抽取為共用函式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資安設計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Security — OWASP Top 10 2021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82296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SEC-01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密碼政策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733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最短 6 字元，需含 3 種以上字元類型（大寫/小寫/數字/特殊符號）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240280"/>
            <a:ext cx="822960" cy="685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SEC-02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86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CSP 標頭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877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Content-Security-Policy：限制 script-src / style-src / connect-src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54680"/>
            <a:ext cx="822960" cy="685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2004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SEC-03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Cookie 安全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502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JWT 存入 HttpOnly + Secure + SameSite=Strict Cookie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069080"/>
            <a:ext cx="822960" cy="685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11480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SEC-04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輸入驗證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4165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前端 textContent 禁止 innerHTML；後端參數化查詢防 SQL Injection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120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OWASP Top 10 對應（節錄）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577840"/>
            <a:ext cx="1828800" cy="4389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562355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A01 權限控制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5623559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後端 JWT 驗證 + Admin role 雙重檢查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5577840"/>
            <a:ext cx="1828800" cy="4389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562355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A02 加密失敗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623559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bcrypt cost=12 + HTTPS + 敏感欄位不入 Log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6080759"/>
            <a:ext cx="1828800" cy="4389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612647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A07 驗證失敗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6126479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JWT + 密碼 bcrypt + 登入失敗 5 次鎖 15 分鐘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6080759"/>
            <a:ext cx="1828800" cy="43891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63640" y="6126479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A08 完整性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6126479"/>
            <a:ext cx="3840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CDN 使用 SRI Hash 驗證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  UI/UX 與 RWD 規範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Design System &amp; Responsive Layout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色彩系統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640080" cy="5943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92807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#16a34a  主色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79" y="1783080"/>
            <a:ext cx="64008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892807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#0d9488  輔色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0" y="1783080"/>
            <a:ext cx="640080" cy="594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1892807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#e65100  警示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60320"/>
            <a:ext cx="640080" cy="5943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67004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#c62828  錯誤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79" y="2560320"/>
            <a:ext cx="640080" cy="5943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67004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#22c55e  成功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2560320"/>
            <a:ext cx="64008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267004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</a:rPr>
              <a:t>#1565c0  資訊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383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排版規格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947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H1：24px / H2：18px / 內文：14–16px / line-height: 1.75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按鈕圓角 8px  ｜  卡片圓角 12px  ｜  卡片陰影：0 2px 8px rgba(0,0,0,0.08)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325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</a:rPr>
              <a:t>響應式斷點 (RWD)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1783080"/>
            <a:ext cx="5303520" cy="8686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828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Mobile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1828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9488"/>
                </a:solidFill>
              </a:rPr>
              <a:t>≤ 767px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1762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單欄排版 / 底部導覽列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788920"/>
            <a:ext cx="5303520" cy="86868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834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Tablet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834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9488"/>
                </a:solidFill>
              </a:rPr>
              <a:t>768–1023px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1821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雙欄排版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794760"/>
            <a:ext cx="5303520" cy="86868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840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Desktop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8404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9488"/>
                </a:solidFill>
              </a:rPr>
              <a:t>≥ 1024px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1879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左側固定側邊欄 + 右側內容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937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9488"/>
                </a:solidFill>
              </a:rPr>
              <a:t>無障礙 ARIA (WCAG 2.1 AA)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3492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所有表單欄位須有 &lt;label for&gt;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73328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互動元素需有 aria-label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6117336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動態區域加 aria-live="polite"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6501383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• 色彩對比比率 ≥ 4.5:1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09  測試策略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UAT · Microsoft Playwright (TypeScript)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使用者驗收測試（UAT）採用 Microsoft Playwright，測試檔名：*.spec.ts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28800"/>
            <a:ext cx="86868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92024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TC-001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使用者註冊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40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有效帳號 / 重複 Email / 密碼強度不足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828800"/>
            <a:ext cx="86868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92024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TC-002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18745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使用者登入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24028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正確帳密 / 錯誤密碼 / 連續 5 次鎖帳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86868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1752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TC-003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新增飲食紀錄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37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搜尋食物 / 選份量 / 驗證 Toast + kcal 更新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926080"/>
            <a:ext cx="86868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301752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TC-004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71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個人目標設定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33756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生理資料計算建議熱量 / 手動覆蓋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23360"/>
            <a:ext cx="86868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11480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TC-005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趨勢報表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434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7天/30天切換 / 無紀錄日空心圓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023360"/>
            <a:ext cx="868680" cy="777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11480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TC-006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後台食物管理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43484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Admin 登入 / 新增編輯刪除食物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120640"/>
            <a:ext cx="868680" cy="7772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212079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TC-007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516635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</a:rPr>
              <a:t>RWD 測試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5532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375px（iPhone SE）底部導覽 / 1440px 側邊欄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需求分析模型（擇一）：BDD Gherkin  /  TDD Jest  /  DDD 領域物件　｜　設計模型（擇一）：DFD / Sequence / Use Case / State Diagram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10  總結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F7D0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19202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35661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🍽️ 功能完整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6 大模組涵蓋使用者端與後台全流程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371600"/>
            <a:ext cx="3566160" cy="192024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371600"/>
            <a:ext cx="3566160" cy="5486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087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6A34A"/>
                </a:solidFill>
              </a:rPr>
              <a:t>📊 視覺化優先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031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Chart.js 圖表即時反映飲食攝取狀況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3566160"/>
            <a:ext cx="3566160" cy="192024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3566160"/>
            <a:ext cx="35661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3703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</a:rPr>
              <a:t>🔐 資安嚴謹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2976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JWT Cookie、CSP、bcrypt、OWASP Top 10 全覆蓋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3566160" cy="192024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566160"/>
            <a:ext cx="35661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033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</a:rPr>
              <a:t>📱 RWD 友善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9768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手機底部導覽 / 桌機側邊欄自動切換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5760720"/>
            <a:ext cx="3566160" cy="192024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5760720"/>
            <a:ext cx="35661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5897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</a:rPr>
              <a:t>🧪 測試驅動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6492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Playwright UAT 7 大測試案例保障品質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5760720"/>
            <a:ext cx="3566160" cy="192024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5760720"/>
            <a:ext cx="35661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589788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9488"/>
                </a:solidFill>
              </a:rPr>
              <a:t>⚡ 現代技術棧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6492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</a:rPr>
              <a:t>React 18 + Vite + Bootstrap 5 + SCSS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989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6A34A"/>
                </a:solidFill>
              </a:rPr>
              <a:t>感謝聆聽　｜　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